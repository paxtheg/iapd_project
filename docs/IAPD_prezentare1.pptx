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335" r:id="rId5"/>
    <p:sldId id="349" r:id="rId6"/>
    <p:sldId id="348" r:id="rId7"/>
    <p:sldId id="336" r:id="rId8"/>
    <p:sldId id="339" r:id="rId9"/>
    <p:sldId id="350" r:id="rId10"/>
    <p:sldId id="340" r:id="rId11"/>
    <p:sldId id="34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94" autoAdjust="0"/>
  </p:normalViewPr>
  <p:slideViewPr>
    <p:cSldViewPr snapToGrid="0">
      <p:cViewPr varScale="1">
        <p:scale>
          <a:sx n="78" d="100"/>
          <a:sy n="78" d="100"/>
        </p:scale>
        <p:origin x="154" y="72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21:57:11.994"/>
    </inkml:context>
    <inkml:brush xml:id="br0">
      <inkml:brushProperty name="width" value="0.035" units="cm"/>
      <inkml:brushProperty name="height" value="0.035" units="cm"/>
      <inkml:brushProperty name="color" value="#0AD5F0"/>
    </inkml:brush>
  </inkml:definitions>
  <inkml:trace contextRef="#ctx0" brushRef="#br0">1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21:57:18.810"/>
    </inkml:context>
    <inkml:brush xml:id="br0">
      <inkml:brushProperty name="width" value="0.035" units="cm"/>
      <inkml:brushProperty name="height" value="0.035" units="cm"/>
      <inkml:brushProperty name="color" value="#0AD5F0"/>
    </inkml:brush>
  </inkml:definitions>
  <inkml:trace contextRef="#ctx0" brushRef="#br0">1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21:57:23.896"/>
    </inkml:context>
    <inkml:brush xml:id="br0">
      <inkml:brushProperty name="width" value="0.035" units="cm"/>
      <inkml:brushProperty name="height" value="0.035" units="cm"/>
      <inkml:brushProperty name="color" value="#0AD5F0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anchor="b">
            <a:normAutofit/>
          </a:bodyPr>
          <a:lstStyle>
            <a:lvl1pPr algn="l">
              <a:defRPr sz="4000" b="1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2800"/>
            </a:lvl1pPr>
            <a:lvl2pPr marL="457200" indent="0">
              <a:lnSpc>
                <a:spcPts val="2400"/>
              </a:lnSpc>
              <a:buNone/>
              <a:defRPr sz="2000"/>
            </a:lvl2pPr>
            <a:lvl3pPr marL="914400" indent="0">
              <a:lnSpc>
                <a:spcPts val="2400"/>
              </a:lnSpc>
              <a:buNone/>
              <a:defRPr sz="2000"/>
            </a:lvl3pPr>
            <a:lvl4pPr marL="1371600" indent="0">
              <a:lnSpc>
                <a:spcPts val="2400"/>
              </a:lnSpc>
              <a:buNone/>
              <a:defRPr sz="2000"/>
            </a:lvl4pPr>
            <a:lvl5pPr marL="1828800" indent="0">
              <a:lnSpc>
                <a:spcPts val="2400"/>
              </a:lnSpc>
              <a:buNone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  <a:lvl6pPr marL="1600200">
              <a:defRPr/>
            </a:lvl6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 level</a:t>
            </a:r>
          </a:p>
          <a:p>
            <a:pPr lvl="5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600"/>
              </a:spcAft>
              <a:defRPr/>
            </a:lvl2pPr>
            <a:lvl3pPr>
              <a:spcBef>
                <a:spcPts val="0"/>
              </a:spcBef>
              <a:spcAft>
                <a:spcPts val="600"/>
              </a:spcAft>
              <a:defRPr/>
            </a:lvl3pPr>
            <a:lvl4pPr>
              <a:spcBef>
                <a:spcPts val="0"/>
              </a:spcBef>
              <a:spcAft>
                <a:spcPts val="600"/>
              </a:spcAft>
              <a:defRPr sz="2000"/>
            </a:lvl4pPr>
            <a:lvl5pPr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3.xml"/><Relationship Id="rId4" Type="http://schemas.openxmlformats.org/officeDocument/2006/relationships/customXml" Target="../ink/ink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7638" y="372657"/>
            <a:ext cx="7187382" cy="3056343"/>
          </a:xfrm>
        </p:spPr>
        <p:txBody>
          <a:bodyPr/>
          <a:lstStyle/>
          <a:p>
            <a:pPr algn="ctr"/>
            <a:r>
              <a:rPr lang="en-US" dirty="0"/>
              <a:t>Analiza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clasificarea</a:t>
            </a:r>
            <a:r>
              <a:rPr lang="en-US" dirty="0"/>
              <a:t> </a:t>
            </a:r>
            <a:r>
              <a:rPr lang="en-US" dirty="0" err="1"/>
              <a:t>picturilor</a:t>
            </a:r>
            <a:r>
              <a:rPr lang="en-US" dirty="0"/>
              <a:t> </a:t>
            </a:r>
            <a:r>
              <a:rPr lang="en-US" dirty="0" err="1"/>
              <a:t>artistice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6DC013-DB68-1A60-08E1-F7D867BA6AD6}"/>
              </a:ext>
            </a:extLst>
          </p:cNvPr>
          <p:cNvSpPr txBox="1"/>
          <p:nvPr/>
        </p:nvSpPr>
        <p:spPr>
          <a:xfrm>
            <a:off x="9438967" y="4751763"/>
            <a:ext cx="3165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 err="1"/>
              <a:t>Glodea</a:t>
            </a:r>
            <a:r>
              <a:rPr lang="en-GB" sz="2000" b="1" dirty="0"/>
              <a:t> Eusebiu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C4BFC4-A9BD-BD17-4060-F23CC3D0E2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40388" y="3104831"/>
            <a:ext cx="5580586" cy="2197590"/>
          </a:xfrm>
        </p:spPr>
        <p:txBody>
          <a:bodyPr>
            <a:normAutofit fontScale="77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 err="1"/>
              <a:t>Proiectul</a:t>
            </a:r>
            <a:r>
              <a:rPr lang="en-US" dirty="0"/>
              <a:t> </a:t>
            </a:r>
            <a:r>
              <a:rPr lang="ro-RO" dirty="0"/>
              <a:t>își propune să creeze un set de date care să conțină un număr considerabil de lucrări artistice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o-RO" dirty="0"/>
              <a:t>Mai departe, setul de date va fi utilizat pentru a antrena o serie de algoritmi de clasificare </a:t>
            </a:r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6324F82-B761-29CC-3C7A-C76885308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9694" y="-1161333"/>
            <a:ext cx="5641975" cy="3317875"/>
          </a:xfrm>
        </p:spPr>
        <p:txBody>
          <a:bodyPr/>
          <a:lstStyle/>
          <a:p>
            <a:r>
              <a:rPr lang="en-US" dirty="0" err="1"/>
              <a:t>Ideea</a:t>
            </a:r>
            <a:r>
              <a:rPr lang="en-US" dirty="0"/>
              <a:t> </a:t>
            </a:r>
            <a:r>
              <a:rPr lang="en-US" dirty="0" err="1"/>
              <a:t>Proiectului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844252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7CBDE0B-97B0-9576-BDF3-5109F4E67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016" y="-1933385"/>
            <a:ext cx="5775656" cy="3284932"/>
          </a:xfrm>
        </p:spPr>
        <p:txBody>
          <a:bodyPr/>
          <a:lstStyle/>
          <a:p>
            <a:r>
              <a:rPr lang="ro-RO" dirty="0"/>
              <a:t>De ce?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9A1B588-3B7C-914A-25E3-C33C32F6AF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2861" y="1774101"/>
            <a:ext cx="5794248" cy="389911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dirty="0"/>
              <a:t>Proiectul simulează arhiva digitală a unui muzeu, iar aplicarea unor algoritmi de clasificare poate ajuta la identificarea și organizarea mai ușoară a colecțiilor din arhivă</a:t>
            </a:r>
          </a:p>
          <a:p>
            <a:endParaRPr lang="ro-RO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dirty="0"/>
              <a:t>Poate ajuta experți în domeniu să identifice cu ușurință artistul sau perioada în care a fost realizată o pictură de origine neclară, pe baza tehnicilor folosite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053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70A-EBCD-13FC-D1A2-49C555C4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525" y="0"/>
            <a:ext cx="10405174" cy="1326514"/>
          </a:xfrm>
        </p:spPr>
        <p:txBody>
          <a:bodyPr anchor="b">
            <a:normAutofit/>
          </a:bodyPr>
          <a:lstStyle/>
          <a:p>
            <a:pPr algn="ctr"/>
            <a:r>
              <a:rPr lang="ro-RO" sz="4000" dirty="0"/>
              <a:t>Setul de date</a:t>
            </a:r>
            <a:endParaRPr lang="en-US" sz="40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0B4EC43-20C2-1DA5-646B-B8D26CF7D00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177181" y="1597117"/>
            <a:ext cx="6192838" cy="1707579"/>
          </a:xfrm>
        </p:spPr>
        <p:txBody>
          <a:bodyPr>
            <a:normAutofit/>
          </a:bodyPr>
          <a:lstStyle/>
          <a:p>
            <a:r>
              <a:rPr lang="ro-RO" dirty="0"/>
              <a:t>Conține aproximativ 1300 de intrări</a:t>
            </a:r>
            <a:endParaRPr lang="en-US" dirty="0"/>
          </a:p>
          <a:p>
            <a:r>
              <a:rPr lang="ro-RO" dirty="0"/>
              <a:t>10 feature-uri care aduc detalii semnificative fiecărei picturi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FD78E9-B93F-279F-1863-F8E60141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36" y="3429000"/>
            <a:ext cx="11843127" cy="15432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82749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340" y="0"/>
            <a:ext cx="8297380" cy="1326514"/>
          </a:xfrm>
        </p:spPr>
        <p:txBody>
          <a:bodyPr>
            <a:normAutofit/>
          </a:bodyPr>
          <a:lstStyle/>
          <a:p>
            <a:r>
              <a:rPr lang="ro-RO" sz="4000" dirty="0"/>
              <a:t>Obținerea datelor</a:t>
            </a:r>
            <a:endParaRPr lang="en-ZA" sz="4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o-RO" dirty="0"/>
              <a:t>Vb despre webscraping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E15B24E-A686-EB3C-4BD1-239C6F4CA462}"/>
                  </a:ext>
                </a:extLst>
              </p14:cNvPr>
              <p14:cNvContentPartPr/>
              <p14:nvPr/>
            </p14:nvContentPartPr>
            <p14:xfrm>
              <a:off x="6980768" y="1327076"/>
              <a:ext cx="360" cy="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E15B24E-A686-EB3C-4BD1-239C6F4CA46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74648" y="1320956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ABBD814-5A60-FF4F-E556-44ABD10DCAE8}"/>
                  </a:ext>
                </a:extLst>
              </p14:cNvPr>
              <p14:cNvContentPartPr/>
              <p14:nvPr/>
            </p14:nvContentPartPr>
            <p14:xfrm>
              <a:off x="4208017" y="1189916"/>
              <a:ext cx="360" cy="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ABBD814-5A60-FF4F-E556-44ABD10DCAE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01897" y="1183796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01E9911-9588-B2E9-C8A7-835F4EBB31A8}"/>
                  </a:ext>
                </a:extLst>
              </p14:cNvPr>
              <p14:cNvContentPartPr/>
              <p14:nvPr/>
            </p14:nvContentPartPr>
            <p14:xfrm>
              <a:off x="3716257" y="1228796"/>
              <a:ext cx="360" cy="3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01E9911-9588-B2E9-C8A7-835F4EBB31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10137" y="1222676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58A7D3-5D91-7EE8-9DD1-A503D04D4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4B8EE-D6C4-1793-2CD1-598CC3EC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525" y="0"/>
            <a:ext cx="10405174" cy="1326514"/>
          </a:xfrm>
        </p:spPr>
        <p:txBody>
          <a:bodyPr anchor="b">
            <a:normAutofit/>
          </a:bodyPr>
          <a:lstStyle/>
          <a:p>
            <a:pPr algn="ctr"/>
            <a:r>
              <a:rPr lang="ro-RO" sz="4000" dirty="0"/>
              <a:t>Preprocesarea datelor</a:t>
            </a:r>
            <a:endParaRPr lang="en-US" sz="40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591023E-87E4-61A1-36C5-2429D42840A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928484" y="2364033"/>
            <a:ext cx="6192838" cy="1707579"/>
          </a:xfrm>
        </p:spPr>
        <p:txBody>
          <a:bodyPr>
            <a:normAutofit/>
          </a:bodyPr>
          <a:lstStyle/>
          <a:p>
            <a:r>
              <a:rPr lang="ro-RO" dirty="0"/>
              <a:t>Vb de toate filtrele si functiile si ce prostii sunt prin wikidata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375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9586" y="-1760465"/>
            <a:ext cx="5641897" cy="3316893"/>
          </a:xfrm>
        </p:spPr>
        <p:txBody>
          <a:bodyPr/>
          <a:lstStyle/>
          <a:p>
            <a:r>
              <a:rPr lang="ro-RO" dirty="0"/>
              <a:t>Analiza datelor</a:t>
            </a:r>
            <a:endParaRPr lang="en-ZA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o-RO" sz="2000" dirty="0"/>
              <a:t>Mai departe, datele trebuie analizate ....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o-RO" sz="2000" dirty="0"/>
              <a:t>mai vb despre alg de clasificare, dc ai ales medium ca target, etc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43390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359" y="249377"/>
            <a:ext cx="5775656" cy="3284932"/>
          </a:xfrm>
        </p:spPr>
        <p:txBody>
          <a:bodyPr/>
          <a:lstStyle/>
          <a:p>
            <a:pPr algn="ctr"/>
            <a:r>
              <a:rPr lang="ro-RO" dirty="0"/>
              <a:t>Mulțumesc pentru atenție!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8_Win32_SL_V4" id="{806921AB-1FF9-416C-A3A7-D14200787132}" vid="{8436FA26-ADF6-4DA9-8A70-95C197E77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C5040CA-20CC-43C6-BC0C-8D8696B6AF8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{949EAD43-BB82-4362-9A36-9B44B4DEB2C0}TFb05bf529-a1dc-42d5-b9d6-8a1e9569dd9caf6e7d0f_win32-c3c9796a48f5</Template>
  <TotalTime>608</TotalTime>
  <Words>164</Words>
  <Application>Microsoft Office PowerPoint</Application>
  <PresentationFormat>Widescreen</PresentationFormat>
  <Paragraphs>20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Avenir Next LT Pro Light</vt:lpstr>
      <vt:lpstr>Calibri</vt:lpstr>
      <vt:lpstr>Posterama</vt:lpstr>
      <vt:lpstr>Custom</vt:lpstr>
      <vt:lpstr>Analiza și clasificarea picturilor artistice</vt:lpstr>
      <vt:lpstr>Ideea Proiectului</vt:lpstr>
      <vt:lpstr>De ce?</vt:lpstr>
      <vt:lpstr>Setul de date</vt:lpstr>
      <vt:lpstr>Obținerea datelor</vt:lpstr>
      <vt:lpstr>Preprocesarea datelor</vt:lpstr>
      <vt:lpstr>Analiza datelor</vt:lpstr>
      <vt:lpstr>Mulțumesc pentru atenție!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Eusebiu GLODEA (123695)</dc:creator>
  <cp:lastModifiedBy>Eusebiu GLODEA (123695)</cp:lastModifiedBy>
  <cp:revision>6</cp:revision>
  <dcterms:created xsi:type="dcterms:W3CDTF">2025-11-18T13:03:14Z</dcterms:created>
  <dcterms:modified xsi:type="dcterms:W3CDTF">2025-11-18T23:12:10Z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