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35" r:id="rId5"/>
    <p:sldId id="349" r:id="rId6"/>
    <p:sldId id="348" r:id="rId7"/>
    <p:sldId id="336" r:id="rId8"/>
    <p:sldId id="352" r:id="rId9"/>
    <p:sldId id="351" r:id="rId10"/>
    <p:sldId id="350" r:id="rId11"/>
    <p:sldId id="353" r:id="rId12"/>
    <p:sldId id="340" r:id="rId13"/>
    <p:sldId id="34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8C8A"/>
    <a:srgbClr val="0A40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78" d="100"/>
          <a:sy n="78" d="100"/>
        </p:scale>
        <p:origin x="154" y="96"/>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89369-1A28-47EF-9669-9B9D17897AAA}"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B8DADBCD-B1D9-4C79-9A48-EF246C8A895B}">
      <dgm:prSet/>
      <dgm:spPr>
        <a:solidFill>
          <a:schemeClr val="accent1">
            <a:lumMod val="75000"/>
          </a:schemeClr>
        </a:solidFill>
      </dgm:spPr>
      <dgm:t>
        <a:bodyPr/>
        <a:lstStyle/>
        <a:p>
          <a:r>
            <a:rPr lang="ro-RO" dirty="0"/>
            <a:t>În continuare, dataframe-ul obținut a fost curățat, deaorece datele obținute direct de pe Wikidata nu au un format adecvat</a:t>
          </a:r>
          <a:endParaRPr lang="en-US" dirty="0"/>
        </a:p>
      </dgm:t>
    </dgm:pt>
    <dgm:pt modelId="{85890111-EFC8-46B7-B866-6DAC8495C3D9}" type="parTrans" cxnId="{3D80287A-F8D5-4C6A-A335-4E0C5F2D7C6F}">
      <dgm:prSet/>
      <dgm:spPr/>
      <dgm:t>
        <a:bodyPr/>
        <a:lstStyle/>
        <a:p>
          <a:endParaRPr lang="en-US"/>
        </a:p>
      </dgm:t>
    </dgm:pt>
    <dgm:pt modelId="{F1B6785D-1450-454A-B925-B42F7E11736F}" type="sibTrans" cxnId="{3D80287A-F8D5-4C6A-A335-4E0C5F2D7C6F}">
      <dgm:prSet/>
      <dgm:spPr/>
      <dgm:t>
        <a:bodyPr/>
        <a:lstStyle/>
        <a:p>
          <a:endParaRPr lang="en-US"/>
        </a:p>
      </dgm:t>
    </dgm:pt>
    <dgm:pt modelId="{29C39A92-5129-45A5-A9D7-86A0038F7B7E}">
      <dgm:prSet/>
      <dgm:spPr>
        <a:solidFill>
          <a:schemeClr val="accent1">
            <a:lumMod val="75000"/>
          </a:schemeClr>
        </a:solidFill>
      </dgm:spPr>
      <dgm:t>
        <a:bodyPr/>
        <a:lstStyle/>
        <a:p>
          <a:r>
            <a:rPr lang="ro-RO"/>
            <a:t>Pentru început au fost eliminate intrările duplicate (intrări cu același artist și titlu al picturii)</a:t>
          </a:r>
          <a:endParaRPr lang="en-US"/>
        </a:p>
      </dgm:t>
    </dgm:pt>
    <dgm:pt modelId="{D0ADDEB3-091F-44D8-9103-511DDA6F27B9}" type="parTrans" cxnId="{984D988D-ECC2-42B6-9B15-320F2AA9A56D}">
      <dgm:prSet/>
      <dgm:spPr/>
      <dgm:t>
        <a:bodyPr/>
        <a:lstStyle/>
        <a:p>
          <a:endParaRPr lang="en-US"/>
        </a:p>
      </dgm:t>
    </dgm:pt>
    <dgm:pt modelId="{2ECFB379-8D48-42F1-ADC8-0D37A1E43016}" type="sibTrans" cxnId="{984D988D-ECC2-42B6-9B15-320F2AA9A56D}">
      <dgm:prSet/>
      <dgm:spPr/>
      <dgm:t>
        <a:bodyPr/>
        <a:lstStyle/>
        <a:p>
          <a:endParaRPr lang="en-US"/>
        </a:p>
      </dgm:t>
    </dgm:pt>
    <dgm:pt modelId="{E8318169-9ADC-4E27-8132-CD78439C7470}">
      <dgm:prSet/>
      <dgm:spPr>
        <a:solidFill>
          <a:srgbClr val="468C8A"/>
        </a:solidFill>
      </dgm:spPr>
      <dgm:t>
        <a:bodyPr/>
        <a:lstStyle/>
        <a:p>
          <a:r>
            <a:rPr lang="ro-RO" dirty="0"/>
            <a:t>Multe intrări au date lipsă, acestea au fost înlocuite cu </a:t>
          </a:r>
          <a:r>
            <a:rPr lang="en-GB" dirty="0"/>
            <a:t>‘Unknown’. </a:t>
          </a:r>
          <a:r>
            <a:rPr lang="ro-RO" dirty="0"/>
            <a:t>Însă, dacă datele lipsă sunt în feature-urile image_url, autor, title, year sau medium, intrarea respectivă a fost direct eliminată, acestea fiind feature-uri esențiale pentru setul de date</a:t>
          </a:r>
          <a:endParaRPr lang="en-US" dirty="0"/>
        </a:p>
      </dgm:t>
    </dgm:pt>
    <dgm:pt modelId="{1B6C3A26-100F-44E4-B694-878EC817D5D1}" type="parTrans" cxnId="{81154AA2-0AD5-4035-A962-5AFEACDC655E}">
      <dgm:prSet/>
      <dgm:spPr/>
      <dgm:t>
        <a:bodyPr/>
        <a:lstStyle/>
        <a:p>
          <a:endParaRPr lang="en-US"/>
        </a:p>
      </dgm:t>
    </dgm:pt>
    <dgm:pt modelId="{BACF6F79-D3E1-4533-889B-3F2EB443A3AB}" type="sibTrans" cxnId="{81154AA2-0AD5-4035-A962-5AFEACDC655E}">
      <dgm:prSet/>
      <dgm:spPr/>
      <dgm:t>
        <a:bodyPr/>
        <a:lstStyle/>
        <a:p>
          <a:endParaRPr lang="en-US"/>
        </a:p>
      </dgm:t>
    </dgm:pt>
    <dgm:pt modelId="{9CFBADF2-812D-4ACC-BA05-C82F6DCAE947}">
      <dgm:prSet/>
      <dgm:spPr>
        <a:solidFill>
          <a:srgbClr val="468C8A"/>
        </a:solidFill>
      </dgm:spPr>
      <dgm:t>
        <a:bodyPr/>
        <a:lstStyle/>
        <a:p>
          <a:r>
            <a:rPr lang="ro-RO" dirty="0"/>
            <a:t>De asemenea, multe intrări au numele autorului sub format-ul Wikidata (cum ar fi </a:t>
          </a:r>
          <a:r>
            <a:rPr lang="en-GB" dirty="0"/>
            <a:t>“Q12345”). </a:t>
          </a:r>
          <a:r>
            <a:rPr lang="en-GB" dirty="0" err="1"/>
            <a:t>Acestea</a:t>
          </a:r>
          <a:r>
            <a:rPr lang="en-GB" dirty="0"/>
            <a:t> sunt </a:t>
          </a:r>
          <a:r>
            <a:rPr lang="en-GB" dirty="0" err="1"/>
            <a:t>ni</a:t>
          </a:r>
          <a:r>
            <a:rPr lang="ro-RO" dirty="0"/>
            <a:t>ște label-uri specifice platformei și sunt folosite de aceasta pentru a identifica mai ușor autori. Alte intrări au ca numele autorului link-uri către o pagină care îi descrie pe aceștia. Intrările cu aceste modificări au fost eliminate, deoarece nu se potrivesc cu ideea proiectului, care are nevoie doar de numele autorului ca și feature al unei intrări </a:t>
          </a:r>
          <a:endParaRPr lang="en-US" dirty="0"/>
        </a:p>
      </dgm:t>
    </dgm:pt>
    <dgm:pt modelId="{5027D65D-2E91-4D82-9356-5499D274F42B}" type="parTrans" cxnId="{310D509E-B639-4540-B4A4-7AB94CCA1363}">
      <dgm:prSet/>
      <dgm:spPr/>
      <dgm:t>
        <a:bodyPr/>
        <a:lstStyle/>
        <a:p>
          <a:endParaRPr lang="en-US"/>
        </a:p>
      </dgm:t>
    </dgm:pt>
    <dgm:pt modelId="{7396E4FE-F484-4CB2-A04E-099E993C4229}" type="sibTrans" cxnId="{310D509E-B639-4540-B4A4-7AB94CCA1363}">
      <dgm:prSet/>
      <dgm:spPr/>
      <dgm:t>
        <a:bodyPr/>
        <a:lstStyle/>
        <a:p>
          <a:endParaRPr lang="en-US"/>
        </a:p>
      </dgm:t>
    </dgm:pt>
    <dgm:pt modelId="{0B8F4928-B7EF-458F-B4A2-57EF25A5A500}">
      <dgm:prSet/>
      <dgm:spPr>
        <a:solidFill>
          <a:srgbClr val="468C8A"/>
        </a:solidFill>
      </dgm:spPr>
      <dgm:t>
        <a:bodyPr/>
        <a:lstStyle/>
        <a:p>
          <a:r>
            <a:rPr lang="ro-RO" dirty="0"/>
            <a:t>În urma etapei de preprocesare a datelor, au rămas în jur de 1300 de intrări</a:t>
          </a:r>
          <a:endParaRPr lang="en-US" dirty="0"/>
        </a:p>
      </dgm:t>
    </dgm:pt>
    <dgm:pt modelId="{C337CA1D-542D-4B3B-A844-971D84983C29}" type="parTrans" cxnId="{3479B1A3-64E0-4370-80B4-E272B3E33BB4}">
      <dgm:prSet/>
      <dgm:spPr/>
      <dgm:t>
        <a:bodyPr/>
        <a:lstStyle/>
        <a:p>
          <a:endParaRPr lang="en-US"/>
        </a:p>
      </dgm:t>
    </dgm:pt>
    <dgm:pt modelId="{65A55741-8EDB-4F68-8208-31D44C82446A}" type="sibTrans" cxnId="{3479B1A3-64E0-4370-80B4-E272B3E33BB4}">
      <dgm:prSet/>
      <dgm:spPr/>
      <dgm:t>
        <a:bodyPr/>
        <a:lstStyle/>
        <a:p>
          <a:endParaRPr lang="en-US"/>
        </a:p>
      </dgm:t>
    </dgm:pt>
    <dgm:pt modelId="{5B8F1D2E-A3C7-4F8D-82A5-52D4751C8C3B}" type="pres">
      <dgm:prSet presAssocID="{A1B89369-1A28-47EF-9669-9B9D17897AAA}" presName="linear" presStyleCnt="0">
        <dgm:presLayoutVars>
          <dgm:animLvl val="lvl"/>
          <dgm:resizeHandles val="exact"/>
        </dgm:presLayoutVars>
      </dgm:prSet>
      <dgm:spPr/>
    </dgm:pt>
    <dgm:pt modelId="{12D09DBF-35E5-44FA-94C9-9A470753319E}" type="pres">
      <dgm:prSet presAssocID="{B8DADBCD-B1D9-4C79-9A48-EF246C8A895B}" presName="parentText" presStyleLbl="node1" presStyleIdx="0" presStyleCnt="5" custLinFactNeighborX="-3534" custLinFactNeighborY="-24385">
        <dgm:presLayoutVars>
          <dgm:chMax val="0"/>
          <dgm:bulletEnabled val="1"/>
        </dgm:presLayoutVars>
      </dgm:prSet>
      <dgm:spPr/>
    </dgm:pt>
    <dgm:pt modelId="{2A6EDCD2-977B-4119-A03E-646FF4283264}" type="pres">
      <dgm:prSet presAssocID="{F1B6785D-1450-454A-B925-B42F7E11736F}" presName="spacer" presStyleCnt="0"/>
      <dgm:spPr/>
    </dgm:pt>
    <dgm:pt modelId="{8CAD1361-FCD3-4560-8928-BF8C3C37D96C}" type="pres">
      <dgm:prSet presAssocID="{29C39A92-5129-45A5-A9D7-86A0038F7B7E}" presName="parentText" presStyleLbl="node1" presStyleIdx="1" presStyleCnt="5">
        <dgm:presLayoutVars>
          <dgm:chMax val="0"/>
          <dgm:bulletEnabled val="1"/>
        </dgm:presLayoutVars>
      </dgm:prSet>
      <dgm:spPr/>
    </dgm:pt>
    <dgm:pt modelId="{7FD52902-F9CE-4B8B-8A88-BEB2A1EE48D5}" type="pres">
      <dgm:prSet presAssocID="{2ECFB379-8D48-42F1-ADC8-0D37A1E43016}" presName="spacer" presStyleCnt="0"/>
      <dgm:spPr/>
    </dgm:pt>
    <dgm:pt modelId="{FEE81A15-3C1C-42F0-B6DF-1B561F15D453}" type="pres">
      <dgm:prSet presAssocID="{E8318169-9ADC-4E27-8132-CD78439C7470}" presName="parentText" presStyleLbl="node1" presStyleIdx="2" presStyleCnt="5">
        <dgm:presLayoutVars>
          <dgm:chMax val="0"/>
          <dgm:bulletEnabled val="1"/>
        </dgm:presLayoutVars>
      </dgm:prSet>
      <dgm:spPr/>
    </dgm:pt>
    <dgm:pt modelId="{9EC20543-ED4A-4091-A467-8E1C7A7FC20F}" type="pres">
      <dgm:prSet presAssocID="{BACF6F79-D3E1-4533-889B-3F2EB443A3AB}" presName="spacer" presStyleCnt="0"/>
      <dgm:spPr/>
    </dgm:pt>
    <dgm:pt modelId="{24502AFB-7716-4EA0-AD67-DD23A6C95628}" type="pres">
      <dgm:prSet presAssocID="{9CFBADF2-812D-4ACC-BA05-C82F6DCAE947}" presName="parentText" presStyleLbl="node1" presStyleIdx="3" presStyleCnt="5">
        <dgm:presLayoutVars>
          <dgm:chMax val="0"/>
          <dgm:bulletEnabled val="1"/>
        </dgm:presLayoutVars>
      </dgm:prSet>
      <dgm:spPr/>
    </dgm:pt>
    <dgm:pt modelId="{26125A0D-9683-4DA9-B67B-175F1E7529A0}" type="pres">
      <dgm:prSet presAssocID="{7396E4FE-F484-4CB2-A04E-099E993C4229}" presName="spacer" presStyleCnt="0"/>
      <dgm:spPr/>
    </dgm:pt>
    <dgm:pt modelId="{6F915DFD-8BFF-41BE-A1A2-7AC0DD73D247}" type="pres">
      <dgm:prSet presAssocID="{0B8F4928-B7EF-458F-B4A2-57EF25A5A500}" presName="parentText" presStyleLbl="node1" presStyleIdx="4" presStyleCnt="5">
        <dgm:presLayoutVars>
          <dgm:chMax val="0"/>
          <dgm:bulletEnabled val="1"/>
        </dgm:presLayoutVars>
      </dgm:prSet>
      <dgm:spPr/>
    </dgm:pt>
  </dgm:ptLst>
  <dgm:cxnLst>
    <dgm:cxn modelId="{4BB2C043-9E1D-42D1-B0A4-7C1FA2CB8BB9}" type="presOf" srcId="{B8DADBCD-B1D9-4C79-9A48-EF246C8A895B}" destId="{12D09DBF-35E5-44FA-94C9-9A470753319E}" srcOrd="0" destOrd="0" presId="urn:microsoft.com/office/officeart/2005/8/layout/vList2"/>
    <dgm:cxn modelId="{4DBBDD54-6BD6-4F55-8D37-17965D49DDF6}" type="presOf" srcId="{29C39A92-5129-45A5-A9D7-86A0038F7B7E}" destId="{8CAD1361-FCD3-4560-8928-BF8C3C37D96C}" srcOrd="0" destOrd="0" presId="urn:microsoft.com/office/officeart/2005/8/layout/vList2"/>
    <dgm:cxn modelId="{A2DCE578-844E-4BB5-ACDE-8C159A37A6CB}" type="presOf" srcId="{E8318169-9ADC-4E27-8132-CD78439C7470}" destId="{FEE81A15-3C1C-42F0-B6DF-1B561F15D453}" srcOrd="0" destOrd="0" presId="urn:microsoft.com/office/officeart/2005/8/layout/vList2"/>
    <dgm:cxn modelId="{3D80287A-F8D5-4C6A-A335-4E0C5F2D7C6F}" srcId="{A1B89369-1A28-47EF-9669-9B9D17897AAA}" destId="{B8DADBCD-B1D9-4C79-9A48-EF246C8A895B}" srcOrd="0" destOrd="0" parTransId="{85890111-EFC8-46B7-B866-6DAC8495C3D9}" sibTransId="{F1B6785D-1450-454A-B925-B42F7E11736F}"/>
    <dgm:cxn modelId="{984D988D-ECC2-42B6-9B15-320F2AA9A56D}" srcId="{A1B89369-1A28-47EF-9669-9B9D17897AAA}" destId="{29C39A92-5129-45A5-A9D7-86A0038F7B7E}" srcOrd="1" destOrd="0" parTransId="{D0ADDEB3-091F-44D8-9103-511DDA6F27B9}" sibTransId="{2ECFB379-8D48-42F1-ADC8-0D37A1E43016}"/>
    <dgm:cxn modelId="{310D509E-B639-4540-B4A4-7AB94CCA1363}" srcId="{A1B89369-1A28-47EF-9669-9B9D17897AAA}" destId="{9CFBADF2-812D-4ACC-BA05-C82F6DCAE947}" srcOrd="3" destOrd="0" parTransId="{5027D65D-2E91-4D82-9356-5499D274F42B}" sibTransId="{7396E4FE-F484-4CB2-A04E-099E993C4229}"/>
    <dgm:cxn modelId="{81154AA2-0AD5-4035-A962-5AFEACDC655E}" srcId="{A1B89369-1A28-47EF-9669-9B9D17897AAA}" destId="{E8318169-9ADC-4E27-8132-CD78439C7470}" srcOrd="2" destOrd="0" parTransId="{1B6C3A26-100F-44E4-B694-878EC817D5D1}" sibTransId="{BACF6F79-D3E1-4533-889B-3F2EB443A3AB}"/>
    <dgm:cxn modelId="{3479B1A3-64E0-4370-80B4-E272B3E33BB4}" srcId="{A1B89369-1A28-47EF-9669-9B9D17897AAA}" destId="{0B8F4928-B7EF-458F-B4A2-57EF25A5A500}" srcOrd="4" destOrd="0" parTransId="{C337CA1D-542D-4B3B-A844-971D84983C29}" sibTransId="{65A55741-8EDB-4F68-8208-31D44C82446A}"/>
    <dgm:cxn modelId="{F78C2BAD-77A3-4074-AAEC-E880B3772D70}" type="presOf" srcId="{0B8F4928-B7EF-458F-B4A2-57EF25A5A500}" destId="{6F915DFD-8BFF-41BE-A1A2-7AC0DD73D247}" srcOrd="0" destOrd="0" presId="urn:microsoft.com/office/officeart/2005/8/layout/vList2"/>
    <dgm:cxn modelId="{0B90A0B4-4136-42F6-B671-88F53A8795A0}" type="presOf" srcId="{A1B89369-1A28-47EF-9669-9B9D17897AAA}" destId="{5B8F1D2E-A3C7-4F8D-82A5-52D4751C8C3B}" srcOrd="0" destOrd="0" presId="urn:microsoft.com/office/officeart/2005/8/layout/vList2"/>
    <dgm:cxn modelId="{7F160FC4-E6BE-4CF1-BB17-DA52F8EDA599}" type="presOf" srcId="{9CFBADF2-812D-4ACC-BA05-C82F6DCAE947}" destId="{24502AFB-7716-4EA0-AD67-DD23A6C95628}" srcOrd="0" destOrd="0" presId="urn:microsoft.com/office/officeart/2005/8/layout/vList2"/>
    <dgm:cxn modelId="{ED6E2A86-1640-405B-BEE6-8FE0860DCD75}" type="presParOf" srcId="{5B8F1D2E-A3C7-4F8D-82A5-52D4751C8C3B}" destId="{12D09DBF-35E5-44FA-94C9-9A470753319E}" srcOrd="0" destOrd="0" presId="urn:microsoft.com/office/officeart/2005/8/layout/vList2"/>
    <dgm:cxn modelId="{0C640F65-1A2F-440B-9D2F-FF67604CC866}" type="presParOf" srcId="{5B8F1D2E-A3C7-4F8D-82A5-52D4751C8C3B}" destId="{2A6EDCD2-977B-4119-A03E-646FF4283264}" srcOrd="1" destOrd="0" presId="urn:microsoft.com/office/officeart/2005/8/layout/vList2"/>
    <dgm:cxn modelId="{3DBD26B3-EEAE-4D91-9A1D-B378153C1D73}" type="presParOf" srcId="{5B8F1D2E-A3C7-4F8D-82A5-52D4751C8C3B}" destId="{8CAD1361-FCD3-4560-8928-BF8C3C37D96C}" srcOrd="2" destOrd="0" presId="urn:microsoft.com/office/officeart/2005/8/layout/vList2"/>
    <dgm:cxn modelId="{ED864A99-97AB-40C3-ACA4-DDC097F670B2}" type="presParOf" srcId="{5B8F1D2E-A3C7-4F8D-82A5-52D4751C8C3B}" destId="{7FD52902-F9CE-4B8B-8A88-BEB2A1EE48D5}" srcOrd="3" destOrd="0" presId="urn:microsoft.com/office/officeart/2005/8/layout/vList2"/>
    <dgm:cxn modelId="{D53BBE6B-A473-4D47-8B28-A2B0EB4E2FED}" type="presParOf" srcId="{5B8F1D2E-A3C7-4F8D-82A5-52D4751C8C3B}" destId="{FEE81A15-3C1C-42F0-B6DF-1B561F15D453}" srcOrd="4" destOrd="0" presId="urn:microsoft.com/office/officeart/2005/8/layout/vList2"/>
    <dgm:cxn modelId="{5CF5A82C-020A-47DE-ACD9-7D3EE06FF068}" type="presParOf" srcId="{5B8F1D2E-A3C7-4F8D-82A5-52D4751C8C3B}" destId="{9EC20543-ED4A-4091-A467-8E1C7A7FC20F}" srcOrd="5" destOrd="0" presId="urn:microsoft.com/office/officeart/2005/8/layout/vList2"/>
    <dgm:cxn modelId="{1CE10E7E-18C7-4C2E-AA3C-AE609A2F9A42}" type="presParOf" srcId="{5B8F1D2E-A3C7-4F8D-82A5-52D4751C8C3B}" destId="{24502AFB-7716-4EA0-AD67-DD23A6C95628}" srcOrd="6" destOrd="0" presId="urn:microsoft.com/office/officeart/2005/8/layout/vList2"/>
    <dgm:cxn modelId="{8F728F7E-2D36-4FDD-A632-AD635031F6BA}" type="presParOf" srcId="{5B8F1D2E-A3C7-4F8D-82A5-52D4751C8C3B}" destId="{26125A0D-9683-4DA9-B67B-175F1E7529A0}" srcOrd="7" destOrd="0" presId="urn:microsoft.com/office/officeart/2005/8/layout/vList2"/>
    <dgm:cxn modelId="{B04AE627-AB48-42F9-B6BB-0DD7D6E98A9C}" type="presParOf" srcId="{5B8F1D2E-A3C7-4F8D-82A5-52D4751C8C3B}" destId="{6F915DFD-8BFF-41BE-A1A2-7AC0DD73D24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09DBF-35E5-44FA-94C9-9A470753319E}">
      <dsp:nvSpPr>
        <dsp:cNvPr id="0" name=""/>
        <dsp:cNvSpPr/>
      </dsp:nvSpPr>
      <dsp:spPr>
        <a:xfrm>
          <a:off x="0" y="118025"/>
          <a:ext cx="9891313" cy="994909"/>
        </a:xfrm>
        <a:prstGeom prst="roundRect">
          <a:avLst/>
        </a:prstGeom>
        <a:solidFill>
          <a:schemeClr val="accent1">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În continuare, dataframe-ul obținut a fost curățat, deaorece datele obținute direct de pe Wikidata nu au un format adecvat</a:t>
          </a:r>
          <a:endParaRPr lang="en-US" sz="1400" kern="1200" dirty="0"/>
        </a:p>
      </dsp:txBody>
      <dsp:txXfrm>
        <a:off x="48567" y="166592"/>
        <a:ext cx="9794179" cy="897775"/>
      </dsp:txXfrm>
    </dsp:sp>
    <dsp:sp modelId="{8CAD1361-FCD3-4560-8928-BF8C3C37D96C}">
      <dsp:nvSpPr>
        <dsp:cNvPr id="0" name=""/>
        <dsp:cNvSpPr/>
      </dsp:nvSpPr>
      <dsp:spPr>
        <a:xfrm>
          <a:off x="0" y="1163086"/>
          <a:ext cx="9891313" cy="994909"/>
        </a:xfrm>
        <a:prstGeom prst="roundRect">
          <a:avLst/>
        </a:prstGeom>
        <a:solidFill>
          <a:schemeClr val="accent1">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a:t>Pentru început au fost eliminate intrările duplicate (intrări cu același artist și titlu al picturii)</a:t>
          </a:r>
          <a:endParaRPr lang="en-US" sz="1400" kern="1200"/>
        </a:p>
      </dsp:txBody>
      <dsp:txXfrm>
        <a:off x="48567" y="1211653"/>
        <a:ext cx="9794179" cy="897775"/>
      </dsp:txXfrm>
    </dsp:sp>
    <dsp:sp modelId="{FEE81A15-3C1C-42F0-B6DF-1B561F15D453}">
      <dsp:nvSpPr>
        <dsp:cNvPr id="0" name=""/>
        <dsp:cNvSpPr/>
      </dsp:nvSpPr>
      <dsp:spPr>
        <a:xfrm>
          <a:off x="0" y="2198315"/>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Multe intrări au date lipsă, acestea au fost înlocuite cu </a:t>
          </a:r>
          <a:r>
            <a:rPr lang="en-GB" sz="1400" kern="1200" dirty="0"/>
            <a:t>‘Unknown’. </a:t>
          </a:r>
          <a:r>
            <a:rPr lang="ro-RO" sz="1400" kern="1200" dirty="0"/>
            <a:t>Însă, dacă datele lipsă sunt în feature-urile image_url, autor, title, year sau medium, intrarea respectivă a fost direct eliminată, acestea fiind feature-uri esențiale pentru setul de date</a:t>
          </a:r>
          <a:endParaRPr lang="en-US" sz="1400" kern="1200" dirty="0"/>
        </a:p>
      </dsp:txBody>
      <dsp:txXfrm>
        <a:off x="48567" y="2246882"/>
        <a:ext cx="9794179" cy="897775"/>
      </dsp:txXfrm>
    </dsp:sp>
    <dsp:sp modelId="{24502AFB-7716-4EA0-AD67-DD23A6C95628}">
      <dsp:nvSpPr>
        <dsp:cNvPr id="0" name=""/>
        <dsp:cNvSpPr/>
      </dsp:nvSpPr>
      <dsp:spPr>
        <a:xfrm>
          <a:off x="0" y="3233545"/>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De asemenea, multe intrări au numele autorului sub format-ul Wikidata (cum ar fi </a:t>
          </a:r>
          <a:r>
            <a:rPr lang="en-GB" sz="1400" kern="1200" dirty="0"/>
            <a:t>“Q12345”). </a:t>
          </a:r>
          <a:r>
            <a:rPr lang="en-GB" sz="1400" kern="1200" dirty="0" err="1"/>
            <a:t>Acestea</a:t>
          </a:r>
          <a:r>
            <a:rPr lang="en-GB" sz="1400" kern="1200" dirty="0"/>
            <a:t> sunt </a:t>
          </a:r>
          <a:r>
            <a:rPr lang="en-GB" sz="1400" kern="1200" dirty="0" err="1"/>
            <a:t>ni</a:t>
          </a:r>
          <a:r>
            <a:rPr lang="ro-RO" sz="1400" kern="1200" dirty="0"/>
            <a:t>ște label-uri specifice platformei și sunt folosite de aceasta pentru a identifica mai ușor autori. Alte intrări au ca numele autorului link-uri către o pagină care îi descrie pe aceștia. Intrările cu aceste modificări au fost eliminate, deoarece nu se potrivesc cu ideea proiectului, care are nevoie doar de numele autorului ca și feature al unei intrări </a:t>
          </a:r>
          <a:endParaRPr lang="en-US" sz="1400" kern="1200" dirty="0"/>
        </a:p>
      </dsp:txBody>
      <dsp:txXfrm>
        <a:off x="48567" y="3282112"/>
        <a:ext cx="9794179" cy="897775"/>
      </dsp:txXfrm>
    </dsp:sp>
    <dsp:sp modelId="{6F915DFD-8BFF-41BE-A1A2-7AC0DD73D247}">
      <dsp:nvSpPr>
        <dsp:cNvPr id="0" name=""/>
        <dsp:cNvSpPr/>
      </dsp:nvSpPr>
      <dsp:spPr>
        <a:xfrm>
          <a:off x="0" y="4268774"/>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În urma etapei de preprocesare a datelor, au rămas în jur de 1300 de intrări</a:t>
          </a:r>
          <a:endParaRPr lang="en-US" sz="1400" kern="1200" dirty="0"/>
        </a:p>
      </dsp:txBody>
      <dsp:txXfrm>
        <a:off x="48567" y="4317341"/>
        <a:ext cx="9794179" cy="8977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11/19/2025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11.994"/>
    </inkml:context>
    <inkml:brush xml:id="br0">
      <inkml:brushProperty name="width" value="0.035" units="cm"/>
      <inkml:brushProperty name="height" value="0.035" units="cm"/>
      <inkml:brushProperty name="color" value="#0AD5F0"/>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18.810"/>
    </inkml:context>
    <inkml:brush xml:id="br0">
      <inkml:brushProperty name="width" value="0.035" units="cm"/>
      <inkml:brushProperty name="height" value="0.035" units="cm"/>
      <inkml:brushProperty name="color" value="#0AD5F0"/>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23.896"/>
    </inkml:context>
    <inkml:brush xml:id="br0">
      <inkml:brushProperty name="width" value="0.035" units="cm"/>
      <inkml:brushProperty name="height" value="0.035" units="cm"/>
      <inkml:brushProperty name="color" value="#0AD5F0"/>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8</a:t>
            </a:fld>
            <a:endParaRPr lang="en-US" dirty="0"/>
          </a:p>
        </p:txBody>
      </p:sp>
    </p:spTree>
    <p:extLst>
      <p:ext uri="{BB962C8B-B14F-4D97-AF65-F5344CB8AC3E}">
        <p14:creationId xmlns:p14="http://schemas.microsoft.com/office/powerpoint/2010/main" val="19030261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query.wikidata.org/sparq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customXml" Target="../ink/ink3.xml"/><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4827638" y="372657"/>
            <a:ext cx="7187382" cy="3056343"/>
          </a:xfrm>
        </p:spPr>
        <p:txBody>
          <a:bodyPr/>
          <a:lstStyle/>
          <a:p>
            <a:pPr algn="ctr"/>
            <a:r>
              <a:rPr lang="en-US" dirty="0"/>
              <a:t>Analiza </a:t>
            </a:r>
            <a:r>
              <a:rPr lang="en-US" dirty="0" err="1"/>
              <a:t>și</a:t>
            </a:r>
            <a:r>
              <a:rPr lang="en-US" dirty="0"/>
              <a:t> </a:t>
            </a:r>
            <a:r>
              <a:rPr lang="en-US" dirty="0" err="1"/>
              <a:t>clasificarea</a:t>
            </a:r>
            <a:r>
              <a:rPr lang="en-US" dirty="0"/>
              <a:t> </a:t>
            </a:r>
            <a:r>
              <a:rPr lang="en-US" dirty="0" err="1"/>
              <a:t>picturilor</a:t>
            </a:r>
            <a:r>
              <a:rPr lang="en-US" dirty="0"/>
              <a:t> </a:t>
            </a:r>
            <a:r>
              <a:rPr lang="en-US" dirty="0" err="1"/>
              <a:t>artistice</a:t>
            </a:r>
            <a:endParaRPr lang="en-US" dirty="0"/>
          </a:p>
        </p:txBody>
      </p:sp>
      <p:sp>
        <p:nvSpPr>
          <p:cNvPr id="2" name="TextBox 1">
            <a:extLst>
              <a:ext uri="{FF2B5EF4-FFF2-40B4-BE49-F238E27FC236}">
                <a16:creationId xmlns:a16="http://schemas.microsoft.com/office/drawing/2014/main" id="{466DC013-DB68-1A60-08E1-F7D867BA6AD6}"/>
              </a:ext>
            </a:extLst>
          </p:cNvPr>
          <p:cNvSpPr txBox="1"/>
          <p:nvPr/>
        </p:nvSpPr>
        <p:spPr>
          <a:xfrm>
            <a:off x="9438967" y="4751763"/>
            <a:ext cx="3165987" cy="400110"/>
          </a:xfrm>
          <a:prstGeom prst="rect">
            <a:avLst/>
          </a:prstGeom>
          <a:noFill/>
        </p:spPr>
        <p:txBody>
          <a:bodyPr wrap="square" rtlCol="0">
            <a:spAutoFit/>
          </a:bodyPr>
          <a:lstStyle/>
          <a:p>
            <a:r>
              <a:rPr lang="en-GB" sz="2000" b="1" dirty="0" err="1"/>
              <a:t>Glodea</a:t>
            </a:r>
            <a:r>
              <a:rPr lang="en-GB" sz="2000" b="1" dirty="0"/>
              <a:t> Eusebiu</a:t>
            </a:r>
            <a:endParaRPr lang="en-US" sz="2000" b="1" dirty="0"/>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C4BFC4-A9BD-BD17-4060-F23CC3D0E262}"/>
              </a:ext>
            </a:extLst>
          </p:cNvPr>
          <p:cNvSpPr>
            <a:spLocks noGrp="1"/>
          </p:cNvSpPr>
          <p:nvPr>
            <p:ph type="body" sz="quarter" idx="13"/>
          </p:nvPr>
        </p:nvSpPr>
        <p:spPr>
          <a:xfrm>
            <a:off x="6140388" y="3104831"/>
            <a:ext cx="5580586" cy="2197590"/>
          </a:xfrm>
        </p:spPr>
        <p:txBody>
          <a:bodyPr>
            <a:normAutofit fontScale="77500" lnSpcReduction="20000"/>
          </a:bodyPr>
          <a:lstStyle/>
          <a:p>
            <a:pPr marL="457200" indent="-457200">
              <a:buFont typeface="Arial" panose="020B0604020202020204" pitchFamily="34" charset="0"/>
              <a:buChar char="•"/>
            </a:pPr>
            <a:r>
              <a:rPr lang="en-US" dirty="0" err="1"/>
              <a:t>Proiectul</a:t>
            </a:r>
            <a:r>
              <a:rPr lang="en-US" dirty="0"/>
              <a:t> </a:t>
            </a:r>
            <a:r>
              <a:rPr lang="ro-RO" dirty="0"/>
              <a:t>își propune să creeze un set de date care să conțină un număr considerabil de lucrări artistice</a:t>
            </a:r>
            <a:endParaRPr lang="en-US" dirty="0"/>
          </a:p>
          <a:p>
            <a:pPr marL="457200" indent="-457200">
              <a:buFont typeface="Arial" panose="020B0604020202020204" pitchFamily="34" charset="0"/>
              <a:buChar char="•"/>
            </a:pPr>
            <a:r>
              <a:rPr lang="ro-RO" dirty="0"/>
              <a:t>Mai departe, setul de date va fi utilizat pentru a antrena o serie de algoritmi de clasificare </a:t>
            </a:r>
            <a:endParaRPr lang="en-US" dirty="0"/>
          </a:p>
          <a:p>
            <a:endParaRPr lang="en-US" dirty="0"/>
          </a:p>
        </p:txBody>
      </p:sp>
      <p:sp>
        <p:nvSpPr>
          <p:cNvPr id="4" name="Title 1">
            <a:extLst>
              <a:ext uri="{FF2B5EF4-FFF2-40B4-BE49-F238E27FC236}">
                <a16:creationId xmlns:a16="http://schemas.microsoft.com/office/drawing/2014/main" id="{56324F82-B761-29CC-3C7A-C76885308C19}"/>
              </a:ext>
            </a:extLst>
          </p:cNvPr>
          <p:cNvSpPr>
            <a:spLocks noGrp="1"/>
          </p:cNvSpPr>
          <p:nvPr>
            <p:ph type="title"/>
          </p:nvPr>
        </p:nvSpPr>
        <p:spPr>
          <a:xfrm>
            <a:off x="6109694" y="-1161333"/>
            <a:ext cx="5641975" cy="3317875"/>
          </a:xfrm>
        </p:spPr>
        <p:txBody>
          <a:bodyPr/>
          <a:lstStyle/>
          <a:p>
            <a:r>
              <a:rPr lang="en-US" dirty="0" err="1"/>
              <a:t>Ideea</a:t>
            </a:r>
            <a:r>
              <a:rPr lang="en-US" dirty="0"/>
              <a:t> </a:t>
            </a:r>
            <a:r>
              <a:rPr lang="en-US" dirty="0" err="1"/>
              <a:t>Proiectului</a:t>
            </a:r>
            <a:endParaRPr lang="en-ZA" dirty="0"/>
          </a:p>
        </p:txBody>
      </p:sp>
    </p:spTree>
    <p:extLst>
      <p:ext uri="{BB962C8B-B14F-4D97-AF65-F5344CB8AC3E}">
        <p14:creationId xmlns:p14="http://schemas.microsoft.com/office/powerpoint/2010/main" val="284425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7CBDE0B-97B0-9576-BDF3-5109F4E67C44}"/>
              </a:ext>
            </a:extLst>
          </p:cNvPr>
          <p:cNvSpPr>
            <a:spLocks noGrp="1"/>
          </p:cNvSpPr>
          <p:nvPr>
            <p:ph type="title"/>
          </p:nvPr>
        </p:nvSpPr>
        <p:spPr>
          <a:xfrm>
            <a:off x="931016" y="-1933385"/>
            <a:ext cx="5775656" cy="3284932"/>
          </a:xfrm>
        </p:spPr>
        <p:txBody>
          <a:bodyPr/>
          <a:lstStyle/>
          <a:p>
            <a:r>
              <a:rPr lang="ro-RO" dirty="0"/>
              <a:t>De ce?</a:t>
            </a:r>
            <a:endParaRPr lang="en-US" dirty="0"/>
          </a:p>
        </p:txBody>
      </p:sp>
      <p:sp>
        <p:nvSpPr>
          <p:cNvPr id="10" name="Text Placeholder 2">
            <a:extLst>
              <a:ext uri="{FF2B5EF4-FFF2-40B4-BE49-F238E27FC236}">
                <a16:creationId xmlns:a16="http://schemas.microsoft.com/office/drawing/2014/main" id="{09A1B588-3B7C-914A-25E3-C33C32F6AFF6}"/>
              </a:ext>
            </a:extLst>
          </p:cNvPr>
          <p:cNvSpPr>
            <a:spLocks noGrp="1"/>
          </p:cNvSpPr>
          <p:nvPr>
            <p:ph type="body" sz="quarter" idx="13"/>
          </p:nvPr>
        </p:nvSpPr>
        <p:spPr>
          <a:xfrm>
            <a:off x="822861" y="1774101"/>
            <a:ext cx="5794248" cy="3899112"/>
          </a:xfrm>
        </p:spPr>
        <p:txBody>
          <a:bodyPr>
            <a:normAutofit/>
          </a:bodyPr>
          <a:lstStyle/>
          <a:p>
            <a:pPr marL="342900" indent="-342900">
              <a:buFont typeface="Arial" panose="020B0604020202020204" pitchFamily="34" charset="0"/>
              <a:buChar char="•"/>
            </a:pPr>
            <a:r>
              <a:rPr lang="ro-RO" dirty="0"/>
              <a:t>Proiectul simulează arhiva digitală a unui muzeu, iar aplicarea unor algoritmi de clasificare poate ajuta la identificarea și organizarea mai ușoară a colecțiilor din arhivă</a:t>
            </a:r>
          </a:p>
          <a:p>
            <a:endParaRPr lang="ro-RO" dirty="0"/>
          </a:p>
          <a:p>
            <a:pPr marL="342900" indent="-342900">
              <a:buFont typeface="Arial" panose="020B0604020202020204" pitchFamily="34" charset="0"/>
              <a:buChar char="•"/>
            </a:pPr>
            <a:r>
              <a:rPr lang="ro-RO" dirty="0"/>
              <a:t>Poate ajuta experți în domeniu să identifice cu ușurință artistul sau perioada în care a fost realizată o pictură de origine neclară, pe baza tehnicilor folosite</a:t>
            </a:r>
            <a:endParaRPr lang="en-US" dirty="0"/>
          </a:p>
        </p:txBody>
      </p:sp>
    </p:spTree>
    <p:extLst>
      <p:ext uri="{BB962C8B-B14F-4D97-AF65-F5344CB8AC3E}">
        <p14:creationId xmlns:p14="http://schemas.microsoft.com/office/powerpoint/2010/main" val="600539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2433864" y="1040748"/>
            <a:ext cx="10515600" cy="1299411"/>
          </a:xfrm>
        </p:spPr>
        <p:txBody>
          <a:bodyPr anchor="b">
            <a:normAutofit/>
          </a:bodyPr>
          <a:lstStyle/>
          <a:p>
            <a:pPr algn="ctr"/>
            <a:r>
              <a:rPr lang="ro-RO" sz="4000" dirty="0"/>
              <a:t>Setul de date</a:t>
            </a:r>
            <a:endParaRPr lang="en-US" sz="4000" dirty="0"/>
          </a:p>
        </p:txBody>
      </p:sp>
      <p:sp>
        <p:nvSpPr>
          <p:cNvPr id="7" name="Text Placeholder 6">
            <a:extLst>
              <a:ext uri="{FF2B5EF4-FFF2-40B4-BE49-F238E27FC236}">
                <a16:creationId xmlns:a16="http://schemas.microsoft.com/office/drawing/2014/main" id="{70B4EC43-20C2-1DA5-646B-B8D26CF7D003}"/>
              </a:ext>
            </a:extLst>
          </p:cNvPr>
          <p:cNvSpPr>
            <a:spLocks noGrp="1"/>
          </p:cNvSpPr>
          <p:nvPr>
            <p:ph sz="quarter" idx="4294967295"/>
          </p:nvPr>
        </p:nvSpPr>
        <p:spPr>
          <a:xfrm>
            <a:off x="710114" y="2767196"/>
            <a:ext cx="6192837" cy="1708150"/>
          </a:xfrm>
        </p:spPr>
        <p:txBody>
          <a:bodyPr>
            <a:normAutofit/>
          </a:bodyPr>
          <a:lstStyle/>
          <a:p>
            <a:r>
              <a:rPr lang="ro-RO" sz="2000" dirty="0"/>
              <a:t>Conține aproximativ 1300 de intrări</a:t>
            </a:r>
            <a:endParaRPr lang="en-US" sz="2000" dirty="0"/>
          </a:p>
          <a:p>
            <a:r>
              <a:rPr lang="ro-RO" sz="2000" dirty="0"/>
              <a:t>10 feature-uri care au detalii semnificative despre fiecare pictură</a:t>
            </a:r>
            <a:endParaRPr lang="en-US" sz="2000" dirty="0"/>
          </a:p>
        </p:txBody>
      </p:sp>
      <p:pic>
        <p:nvPicPr>
          <p:cNvPr id="5" name="Picture 4">
            <a:extLst>
              <a:ext uri="{FF2B5EF4-FFF2-40B4-BE49-F238E27FC236}">
                <a16:creationId xmlns:a16="http://schemas.microsoft.com/office/drawing/2014/main" id="{6EFD78E9-B93F-279F-1863-F8E60141F12D}"/>
              </a:ext>
            </a:extLst>
          </p:cNvPr>
          <p:cNvPicPr>
            <a:picLocks noChangeAspect="1"/>
          </p:cNvPicPr>
          <p:nvPr/>
        </p:nvPicPr>
        <p:blipFill>
          <a:blip r:embed="rId2"/>
          <a:stretch>
            <a:fillRect/>
          </a:stretch>
        </p:blipFill>
        <p:spPr>
          <a:xfrm>
            <a:off x="174436" y="4475346"/>
            <a:ext cx="11843127" cy="1543297"/>
          </a:xfrm>
          <a:prstGeom prst="rect">
            <a:avLst/>
          </a:prstGeom>
          <a:noFill/>
        </p:spPr>
      </p:pic>
    </p:spTree>
    <p:extLst>
      <p:ext uri="{BB962C8B-B14F-4D97-AF65-F5344CB8AC3E}">
        <p14:creationId xmlns:p14="http://schemas.microsoft.com/office/powerpoint/2010/main" val="582749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reative coding - Wikipedia">
            <a:extLst>
              <a:ext uri="{FF2B5EF4-FFF2-40B4-BE49-F238E27FC236}">
                <a16:creationId xmlns:a16="http://schemas.microsoft.com/office/drawing/2014/main" id="{E75E9380-B5A7-121D-3BBC-577EFCE71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481" b="1"/>
          <a:stretch>
            <a:fillRect/>
          </a:stretch>
        </p:blipFill>
        <p:spPr bwMode="auto">
          <a:xfrm>
            <a:off x="7610475" y="1"/>
            <a:ext cx="4581525" cy="68580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 name="Slide Number Placeholder 3" hidden="1">
            <a:extLst>
              <a:ext uri="{FF2B5EF4-FFF2-40B4-BE49-F238E27FC236}">
                <a16:creationId xmlns:a16="http://schemas.microsoft.com/office/drawing/2014/main" id="{4B0050AC-985D-C055-EA2B-099FC7F86A6A}"/>
              </a:ext>
            </a:extLst>
          </p:cNvPr>
          <p:cNvSpPr>
            <a:spLocks noGrp="1"/>
          </p:cNvSpPr>
          <p:nvPr>
            <p:ph type="sldNum" sz="quarter" idx="4294967295"/>
          </p:nvPr>
        </p:nvSpPr>
        <p:spPr>
          <a:xfrm>
            <a:off x="911352" y="6246622"/>
            <a:ext cx="2670048" cy="365125"/>
          </a:xfrm>
        </p:spPr>
        <p:txBody>
          <a:bodyPr/>
          <a:lstStyle/>
          <a:p>
            <a:pPr>
              <a:spcAft>
                <a:spcPts val="600"/>
              </a:spcAft>
            </a:pPr>
            <a:fld id="{B5CEABB6-07DC-46E8-9B57-56EC44A396E5}" type="slidenum">
              <a:rPr lang="en-US" smtClean="0"/>
              <a:pPr>
                <a:spcAft>
                  <a:spcPts val="600"/>
                </a:spcAft>
              </a:pPr>
              <a:t>5</a:t>
            </a:fld>
            <a:endParaRPr lang="en-US"/>
          </a:p>
        </p:txBody>
      </p:sp>
      <p:sp>
        <p:nvSpPr>
          <p:cNvPr id="5" name="Title 1">
            <a:extLst>
              <a:ext uri="{FF2B5EF4-FFF2-40B4-BE49-F238E27FC236}">
                <a16:creationId xmlns:a16="http://schemas.microsoft.com/office/drawing/2014/main" id="{0B325295-B4B0-851A-FA25-F23BB4D7D046}"/>
              </a:ext>
            </a:extLst>
          </p:cNvPr>
          <p:cNvSpPr>
            <a:spLocks noGrp="1"/>
          </p:cNvSpPr>
          <p:nvPr>
            <p:ph type="title"/>
          </p:nvPr>
        </p:nvSpPr>
        <p:spPr>
          <a:xfrm>
            <a:off x="1092619" y="-1810544"/>
            <a:ext cx="5864225" cy="3621087"/>
          </a:xfrm>
        </p:spPr>
        <p:txBody>
          <a:bodyPr>
            <a:normAutofit/>
          </a:bodyPr>
          <a:lstStyle/>
          <a:p>
            <a:r>
              <a:rPr lang="ro-RO" sz="4000" dirty="0"/>
              <a:t>Obținerea datelor</a:t>
            </a:r>
            <a:endParaRPr lang="en-ZA" sz="4000" dirty="0"/>
          </a:p>
        </p:txBody>
      </p:sp>
      <p:sp>
        <p:nvSpPr>
          <p:cNvPr id="6" name="Text Placeholder 3">
            <a:extLst>
              <a:ext uri="{FF2B5EF4-FFF2-40B4-BE49-F238E27FC236}">
                <a16:creationId xmlns:a16="http://schemas.microsoft.com/office/drawing/2014/main" id="{29425694-D547-450E-46EB-F6EC6F17CA8B}"/>
              </a:ext>
            </a:extLst>
          </p:cNvPr>
          <p:cNvSpPr txBox="1">
            <a:spLocks/>
          </p:cNvSpPr>
          <p:nvPr/>
        </p:nvSpPr>
        <p:spPr>
          <a:xfrm>
            <a:off x="809995" y="2580528"/>
            <a:ext cx="6429472" cy="34930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De pe site-ul </a:t>
            </a:r>
            <a:r>
              <a:rPr lang="en-GB" sz="2000" dirty="0" err="1"/>
              <a:t>Wikidata</a:t>
            </a:r>
            <a:r>
              <a:rPr lang="en-GB" sz="2000" dirty="0"/>
              <a:t>, a </a:t>
            </a:r>
            <a:r>
              <a:rPr lang="en-GB" sz="2000" dirty="0" err="1"/>
              <a:t>fost</a:t>
            </a:r>
            <a:r>
              <a:rPr lang="en-GB" sz="2000" dirty="0"/>
              <a:t> </a:t>
            </a:r>
            <a:r>
              <a:rPr lang="en-GB" sz="2000" dirty="0" err="1"/>
              <a:t>efectuat</a:t>
            </a:r>
            <a:r>
              <a:rPr lang="ro-RO" sz="2000" dirty="0"/>
              <a:t>ă o metodă de Webscraping prin API folosind SPARQL</a:t>
            </a:r>
          </a:p>
          <a:p>
            <a:r>
              <a:rPr lang="ro-RO" sz="2000" dirty="0"/>
              <a:t>Endpoint-ul SPARQL  al Wikidata este </a:t>
            </a:r>
            <a:r>
              <a:rPr lang="en-US" sz="2000" dirty="0">
                <a:hlinkClick r:id="rId3"/>
              </a:rPr>
              <a:t>https://query.wikidata.org/sparql</a:t>
            </a:r>
            <a:r>
              <a:rPr lang="ro-RO" sz="2000" dirty="0"/>
              <a:t> care primește query-uri și intoarce JSON-uri care conțin datele căutate</a:t>
            </a:r>
          </a:p>
          <a:p>
            <a:r>
              <a:rPr lang="ro-RO" sz="2000" dirty="0"/>
              <a:t>Mai departe, datele în format JSON vor fi transformate în etapa de preprocesare</a:t>
            </a:r>
          </a:p>
          <a:p>
            <a:endParaRPr lang="ro-RO" dirty="0"/>
          </a:p>
          <a:p>
            <a:endParaRPr lang="en-US" dirty="0"/>
          </a:p>
        </p:txBody>
      </p:sp>
    </p:spTree>
    <p:extLst>
      <p:ext uri="{BB962C8B-B14F-4D97-AF65-F5344CB8AC3E}">
        <p14:creationId xmlns:p14="http://schemas.microsoft.com/office/powerpoint/2010/main" val="2176886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a:extLst>
            <a:ext uri="{FF2B5EF4-FFF2-40B4-BE49-F238E27FC236}">
              <a16:creationId xmlns:a16="http://schemas.microsoft.com/office/drawing/2014/main" id="{E8E49202-C8BD-6BC1-9348-E77050BF1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23E56-BF6E-0A7E-D9DD-A6F9F728C4DC}"/>
              </a:ext>
            </a:extLst>
          </p:cNvPr>
          <p:cNvSpPr>
            <a:spLocks noGrp="1"/>
          </p:cNvSpPr>
          <p:nvPr>
            <p:ph type="title"/>
          </p:nvPr>
        </p:nvSpPr>
        <p:spPr>
          <a:xfrm>
            <a:off x="3163824" y="-2431108"/>
            <a:ext cx="5864352" cy="3621024"/>
          </a:xfrm>
        </p:spPr>
        <p:txBody>
          <a:bodyPr>
            <a:normAutofit/>
          </a:bodyPr>
          <a:lstStyle/>
          <a:p>
            <a:r>
              <a:rPr lang="ro-RO" sz="4000" dirty="0"/>
              <a:t>Obținerea datelor</a:t>
            </a:r>
            <a:endParaRPr lang="en-ZA" sz="4000" dirty="0"/>
          </a:p>
        </p:txBody>
      </p:sp>
      <p:sp>
        <p:nvSpPr>
          <p:cNvPr id="4" name="Text Placeholder 3">
            <a:extLst>
              <a:ext uri="{FF2B5EF4-FFF2-40B4-BE49-F238E27FC236}">
                <a16:creationId xmlns:a16="http://schemas.microsoft.com/office/drawing/2014/main" id="{2757947A-4F22-EDFB-DD91-E8E3B9864DC9}"/>
              </a:ext>
            </a:extLst>
          </p:cNvPr>
          <p:cNvSpPr>
            <a:spLocks noGrp="1"/>
          </p:cNvSpPr>
          <p:nvPr>
            <p:ph type="body" sz="quarter" idx="4294967295"/>
          </p:nvPr>
        </p:nvSpPr>
        <p:spPr>
          <a:xfrm>
            <a:off x="6351639" y="2455176"/>
            <a:ext cx="5706272" cy="3492500"/>
          </a:xfrm>
        </p:spPr>
        <p:txBody>
          <a:bodyPr>
            <a:normAutofit/>
          </a:bodyPr>
          <a:lstStyle/>
          <a:p>
            <a:r>
              <a:rPr lang="ro-RO" sz="2000" dirty="0"/>
              <a:t>Query-ul utilizat este relativ simplu, presupune o metodă de SELECT care caută mai multe feature-uri </a:t>
            </a:r>
          </a:p>
          <a:p>
            <a:r>
              <a:rPr lang="ro-RO" sz="2000" dirty="0"/>
              <a:t>Astfel se identifică toate entitățile care sunt </a:t>
            </a:r>
            <a:r>
              <a:rPr lang="en-GB" sz="2000" dirty="0"/>
              <a:t>“</a:t>
            </a:r>
            <a:r>
              <a:rPr lang="ro-RO" sz="2000" dirty="0"/>
              <a:t>painting</a:t>
            </a:r>
            <a:r>
              <a:rPr lang="en-GB" sz="2000" dirty="0"/>
              <a:t>”, care au o imagine, un </a:t>
            </a:r>
            <a:r>
              <a:rPr lang="en-GB" sz="2000" dirty="0" err="1"/>
              <a:t>autor</a:t>
            </a:r>
            <a:r>
              <a:rPr lang="en-GB" sz="2000" dirty="0"/>
              <a:t>, o </a:t>
            </a:r>
            <a:r>
              <a:rPr lang="en-GB" sz="2000" dirty="0" err="1"/>
              <a:t>dat</a:t>
            </a:r>
            <a:r>
              <a:rPr lang="ro-RO" sz="2000" dirty="0"/>
              <a:t>ă la care au fost create, etc.</a:t>
            </a:r>
          </a:p>
          <a:p>
            <a:r>
              <a:rPr lang="ro-RO" sz="2000" dirty="0"/>
              <a:t>Limita a fost de 5000 de intrări, multe din acestea urmând să fie eliminate în stadiul de preprocesare</a:t>
            </a:r>
            <a:endParaRPr lang="en-US" sz="2000" dirty="0"/>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72B6E5DC-566D-3931-02BD-2E2C7D3A6C20}"/>
                  </a:ext>
                </a:extLst>
              </p14:cNvPr>
              <p14:cNvContentPartPr/>
              <p14:nvPr/>
            </p14:nvContentPartPr>
            <p14:xfrm>
              <a:off x="6980768" y="1327076"/>
              <a:ext cx="360" cy="360"/>
            </p14:xfrm>
          </p:contentPart>
        </mc:Choice>
        <mc:Fallback>
          <p:pic>
            <p:nvPicPr>
              <p:cNvPr id="6" name="Ink 5">
                <a:extLst>
                  <a:ext uri="{FF2B5EF4-FFF2-40B4-BE49-F238E27FC236}">
                    <a16:creationId xmlns:a16="http://schemas.microsoft.com/office/drawing/2014/main" id="{72B6E5DC-566D-3931-02BD-2E2C7D3A6C20}"/>
                  </a:ext>
                </a:extLst>
              </p:cNvPr>
              <p:cNvPicPr/>
              <p:nvPr/>
            </p:nvPicPr>
            <p:blipFill>
              <a:blip r:embed="rId3"/>
              <a:stretch>
                <a:fillRect/>
              </a:stretch>
            </p:blipFill>
            <p:spPr>
              <a:xfrm>
                <a:off x="6974648" y="132095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74A8E9C8-F629-C4CF-B660-020F142FFCAE}"/>
                  </a:ext>
                </a:extLst>
              </p14:cNvPr>
              <p14:cNvContentPartPr/>
              <p14:nvPr/>
            </p14:nvContentPartPr>
            <p14:xfrm>
              <a:off x="4208017" y="1189916"/>
              <a:ext cx="360" cy="360"/>
            </p14:xfrm>
          </p:contentPart>
        </mc:Choice>
        <mc:Fallback>
          <p:pic>
            <p:nvPicPr>
              <p:cNvPr id="7" name="Ink 6">
                <a:extLst>
                  <a:ext uri="{FF2B5EF4-FFF2-40B4-BE49-F238E27FC236}">
                    <a16:creationId xmlns:a16="http://schemas.microsoft.com/office/drawing/2014/main" id="{74A8E9C8-F629-C4CF-B660-020F142FFCAE}"/>
                  </a:ext>
                </a:extLst>
              </p:cNvPr>
              <p:cNvPicPr/>
              <p:nvPr/>
            </p:nvPicPr>
            <p:blipFill>
              <a:blip r:embed="rId3"/>
              <a:stretch>
                <a:fillRect/>
              </a:stretch>
            </p:blipFill>
            <p:spPr>
              <a:xfrm>
                <a:off x="4201897" y="118379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A1B1591D-F7B9-649A-5F80-5ED56B21F8C6}"/>
                  </a:ext>
                </a:extLst>
              </p14:cNvPr>
              <p14:cNvContentPartPr/>
              <p14:nvPr/>
            </p14:nvContentPartPr>
            <p14:xfrm>
              <a:off x="3716257" y="1228796"/>
              <a:ext cx="360" cy="360"/>
            </p14:xfrm>
          </p:contentPart>
        </mc:Choice>
        <mc:Fallback>
          <p:pic>
            <p:nvPicPr>
              <p:cNvPr id="8" name="Ink 7">
                <a:extLst>
                  <a:ext uri="{FF2B5EF4-FFF2-40B4-BE49-F238E27FC236}">
                    <a16:creationId xmlns:a16="http://schemas.microsoft.com/office/drawing/2014/main" id="{A1B1591D-F7B9-649A-5F80-5ED56B21F8C6}"/>
                  </a:ext>
                </a:extLst>
              </p:cNvPr>
              <p:cNvPicPr/>
              <p:nvPr/>
            </p:nvPicPr>
            <p:blipFill>
              <a:blip r:embed="rId3"/>
              <a:stretch>
                <a:fillRect/>
              </a:stretch>
            </p:blipFill>
            <p:spPr>
              <a:xfrm>
                <a:off x="3710137" y="1222676"/>
                <a:ext cx="12600" cy="12600"/>
              </a:xfrm>
              <a:prstGeom prst="rect">
                <a:avLst/>
              </a:prstGeom>
            </p:spPr>
          </p:pic>
        </mc:Fallback>
      </mc:AlternateContent>
      <p:pic>
        <p:nvPicPr>
          <p:cNvPr id="5" name="Picture 4">
            <a:extLst>
              <a:ext uri="{FF2B5EF4-FFF2-40B4-BE49-F238E27FC236}">
                <a16:creationId xmlns:a16="http://schemas.microsoft.com/office/drawing/2014/main" id="{E21FACC0-6D60-5593-F0C5-A9FD53EE70E2}"/>
              </a:ext>
            </a:extLst>
          </p:cNvPr>
          <p:cNvPicPr>
            <a:picLocks noChangeAspect="1"/>
          </p:cNvPicPr>
          <p:nvPr/>
        </p:nvPicPr>
        <p:blipFill>
          <a:blip r:embed="rId6"/>
          <a:stretch>
            <a:fillRect/>
          </a:stretch>
        </p:blipFill>
        <p:spPr>
          <a:xfrm>
            <a:off x="389729" y="2111047"/>
            <a:ext cx="5706271" cy="3953427"/>
          </a:xfrm>
          <a:prstGeom prst="rect">
            <a:avLst/>
          </a:prstGeom>
        </p:spPr>
      </p:pic>
    </p:spTree>
    <p:extLst>
      <p:ext uri="{BB962C8B-B14F-4D97-AF65-F5344CB8AC3E}">
        <p14:creationId xmlns:p14="http://schemas.microsoft.com/office/powerpoint/2010/main" val="801417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B358A7D3-5D91-7EE8-9DD1-A503D04D4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4B8EE-D6C4-1793-2CD1-598CC3ECEDC7}"/>
              </a:ext>
            </a:extLst>
          </p:cNvPr>
          <p:cNvSpPr>
            <a:spLocks noGrp="1"/>
          </p:cNvSpPr>
          <p:nvPr>
            <p:ph type="title"/>
          </p:nvPr>
        </p:nvSpPr>
        <p:spPr>
          <a:xfrm>
            <a:off x="3812628" y="656335"/>
            <a:ext cx="10405174" cy="1326514"/>
          </a:xfrm>
        </p:spPr>
        <p:txBody>
          <a:bodyPr anchor="b">
            <a:normAutofit/>
          </a:bodyPr>
          <a:lstStyle/>
          <a:p>
            <a:pPr algn="ctr"/>
            <a:r>
              <a:rPr lang="ro-RO" sz="4000" dirty="0"/>
              <a:t>Preprocesarea </a:t>
            </a:r>
            <a:br>
              <a:rPr lang="ro-RO" sz="4000" dirty="0"/>
            </a:br>
            <a:r>
              <a:rPr lang="ro-RO" sz="4000" dirty="0"/>
              <a:t>datelor</a:t>
            </a:r>
            <a:endParaRPr lang="en-US" sz="4000" dirty="0"/>
          </a:p>
        </p:txBody>
      </p:sp>
      <p:pic>
        <p:nvPicPr>
          <p:cNvPr id="3074" name="Picture 2" descr="What is Creative Coding? - Meadows School of the Arts, SMU">
            <a:extLst>
              <a:ext uri="{FF2B5EF4-FFF2-40B4-BE49-F238E27FC236}">
                <a16:creationId xmlns:a16="http://schemas.microsoft.com/office/drawing/2014/main" id="{613FF17D-4C1E-BF36-3D0C-93A5BEEB00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6007616" cy="68580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2591023E-87E4-61A1-36C5-2429D42840A2}"/>
              </a:ext>
            </a:extLst>
          </p:cNvPr>
          <p:cNvSpPr>
            <a:spLocks noGrp="1"/>
          </p:cNvSpPr>
          <p:nvPr>
            <p:ph sz="quarter" idx="14"/>
          </p:nvPr>
        </p:nvSpPr>
        <p:spPr>
          <a:xfrm>
            <a:off x="6410644" y="2676176"/>
            <a:ext cx="4887594" cy="3687763"/>
          </a:xfrm>
        </p:spPr>
        <p:txBody>
          <a:bodyPr>
            <a:normAutofit/>
          </a:bodyPr>
          <a:lstStyle/>
          <a:p>
            <a:pPr marL="285750" indent="-285750">
              <a:lnSpc>
                <a:spcPct val="90000"/>
              </a:lnSpc>
              <a:buFont typeface="Arial" panose="020B0604020202020204" pitchFamily="34" charset="0"/>
              <a:buChar char="•"/>
            </a:pPr>
            <a:r>
              <a:rPr lang="ro-RO" sz="1700" dirty="0"/>
              <a:t>Datele au fost transformate din format JSON într-un dataframe </a:t>
            </a:r>
          </a:p>
          <a:p>
            <a:pPr marL="285750" indent="-285750">
              <a:lnSpc>
                <a:spcPct val="90000"/>
              </a:lnSpc>
              <a:buFont typeface="Arial" panose="020B0604020202020204" pitchFamily="34" charset="0"/>
              <a:buChar char="•"/>
            </a:pPr>
            <a:r>
              <a:rPr lang="ro-RO" sz="1700" dirty="0"/>
              <a:t>Câteva valori din JSON au fost transformate aici, cum ar fi feature-urile height si width care au fost convertite din string în float </a:t>
            </a:r>
          </a:p>
          <a:p>
            <a:pPr marL="285750" indent="-285750">
              <a:lnSpc>
                <a:spcPct val="90000"/>
              </a:lnSpc>
              <a:buFont typeface="Arial" panose="020B0604020202020204" pitchFamily="34" charset="0"/>
              <a:buChar char="•"/>
            </a:pPr>
            <a:r>
              <a:rPr lang="ro-RO" sz="1700" dirty="0"/>
              <a:t>Pentru year (anul în care a fost realizată pictura), formatul Wikidata întoarce data la care a fost realizată aceasta îtr-un format precum </a:t>
            </a:r>
            <a:r>
              <a:rPr lang="en-GB" sz="1700" dirty="0"/>
              <a:t>“</a:t>
            </a:r>
            <a:r>
              <a:rPr lang="en-US" sz="1700" dirty="0"/>
              <a:t>1889-06-01T00:00:00Z</a:t>
            </a:r>
            <a:r>
              <a:rPr lang="en-GB" sz="1700" dirty="0"/>
              <a:t>”</a:t>
            </a:r>
            <a:r>
              <a:rPr lang="ro-RO" sz="1700" dirty="0"/>
              <a:t>. În dataframe au fost alese doar primele 4 caractere, deoarece dorim să extragem doar anul în care au fost create picturile</a:t>
            </a:r>
            <a:endParaRPr lang="en-US" sz="1700" dirty="0"/>
          </a:p>
        </p:txBody>
      </p:sp>
    </p:spTree>
    <p:extLst>
      <p:ext uri="{BB962C8B-B14F-4D97-AF65-F5344CB8AC3E}">
        <p14:creationId xmlns:p14="http://schemas.microsoft.com/office/powerpoint/2010/main" val="3429375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003A510-66D5-1177-AA49-5DFBE43A1A03}"/>
              </a:ext>
            </a:extLst>
          </p:cNvPr>
          <p:cNvSpPr>
            <a:spLocks noGrp="1"/>
          </p:cNvSpPr>
          <p:nvPr>
            <p:ph type="title"/>
          </p:nvPr>
        </p:nvSpPr>
        <p:spPr>
          <a:xfrm>
            <a:off x="2301471" y="983"/>
            <a:ext cx="7923293" cy="1249680"/>
          </a:xfrm>
        </p:spPr>
        <p:txBody>
          <a:bodyPr anchor="b">
            <a:normAutofit/>
          </a:bodyPr>
          <a:lstStyle/>
          <a:p>
            <a:r>
              <a:rPr lang="ro-RO" sz="4000" dirty="0"/>
              <a:t>Preprocesarea datelor</a:t>
            </a:r>
            <a:endParaRPr lang="en-US" sz="4000" dirty="0"/>
          </a:p>
        </p:txBody>
      </p:sp>
      <p:graphicFrame>
        <p:nvGraphicFramePr>
          <p:cNvPr id="8" name="Text Placeholder 2">
            <a:extLst>
              <a:ext uri="{FF2B5EF4-FFF2-40B4-BE49-F238E27FC236}">
                <a16:creationId xmlns:a16="http://schemas.microsoft.com/office/drawing/2014/main" id="{5A141ABF-FE97-FB0E-BA02-FE120952ED2B}"/>
              </a:ext>
            </a:extLst>
          </p:cNvPr>
          <p:cNvGraphicFramePr/>
          <p:nvPr>
            <p:extLst>
              <p:ext uri="{D42A27DB-BD31-4B8C-83A1-F6EECF244321}">
                <p14:modId xmlns:p14="http://schemas.microsoft.com/office/powerpoint/2010/main" val="1453448339"/>
              </p:ext>
            </p:extLst>
          </p:nvPr>
        </p:nvGraphicFramePr>
        <p:xfrm>
          <a:off x="1317460" y="1250663"/>
          <a:ext cx="9891313" cy="5391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5027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5299586" y="-1760465"/>
            <a:ext cx="5641897" cy="3316893"/>
          </a:xfrm>
        </p:spPr>
        <p:txBody>
          <a:bodyPr/>
          <a:lstStyle/>
          <a:p>
            <a:r>
              <a:rPr lang="ro-RO" dirty="0"/>
              <a:t>Analiza datelor</a:t>
            </a:r>
            <a:endParaRPr lang="en-ZA" dirty="0"/>
          </a:p>
        </p:txBody>
      </p:sp>
      <p:sp>
        <p:nvSpPr>
          <p:cNvPr id="5" name="Text Placeholder 4">
            <a:extLst>
              <a:ext uri="{FF2B5EF4-FFF2-40B4-BE49-F238E27FC236}">
                <a16:creationId xmlns:a16="http://schemas.microsoft.com/office/drawing/2014/main" id="{CE3C8A46-D49C-FB70-9062-B672F2F7FB49}"/>
              </a:ext>
            </a:extLst>
          </p:cNvPr>
          <p:cNvSpPr>
            <a:spLocks noGrp="1"/>
          </p:cNvSpPr>
          <p:nvPr>
            <p:ph type="body" sz="quarter" idx="13"/>
          </p:nvPr>
        </p:nvSpPr>
        <p:spPr>
          <a:xfrm>
            <a:off x="5360897" y="2809863"/>
            <a:ext cx="5580586" cy="2197590"/>
          </a:xfrm>
        </p:spPr>
        <p:txBody>
          <a:bodyPr>
            <a:normAutofit fontScale="85000" lnSpcReduction="10000"/>
          </a:bodyPr>
          <a:lstStyle/>
          <a:p>
            <a:pPr marL="457200" indent="-457200">
              <a:buFont typeface="Arial" panose="020B0604020202020204" pitchFamily="34" charset="0"/>
              <a:buChar char="•"/>
            </a:pPr>
            <a:r>
              <a:rPr lang="ro-RO" sz="2000" dirty="0"/>
              <a:t>Datele urmează să fie analizate de algoritmi de clasificare (precum Random Forest sau Logistic Regression), care să poată ajuta la organizarea picturilor artistice</a:t>
            </a:r>
          </a:p>
          <a:p>
            <a:pPr marL="457200" indent="-457200">
              <a:buFont typeface="Arial" panose="020B0604020202020204" pitchFamily="34" charset="0"/>
              <a:buChar char="•"/>
            </a:pPr>
            <a:r>
              <a:rPr lang="ro-RO" sz="2000" dirty="0"/>
              <a:t>Setul de date a fost împărțit în date de train și test pentru a facilita procesul de testare a algoritmilor</a:t>
            </a:r>
            <a:endParaRPr lang="en-US" sz="2000" dirty="0"/>
          </a:p>
        </p:txBody>
      </p:sp>
    </p:spTree>
    <p:extLst>
      <p:ext uri="{BB962C8B-B14F-4D97-AF65-F5344CB8AC3E}">
        <p14:creationId xmlns:p14="http://schemas.microsoft.com/office/powerpoint/2010/main" val="4043390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852359" y="249377"/>
            <a:ext cx="5775656" cy="3284932"/>
          </a:xfrm>
        </p:spPr>
        <p:txBody>
          <a:bodyPr/>
          <a:lstStyle/>
          <a:p>
            <a:pPr algn="ctr"/>
            <a:r>
              <a:rPr lang="ro-RO" dirty="0"/>
              <a:t>Mulțumesc pentru atenție!</a:t>
            </a:r>
            <a:endParaRPr lang="en-US" dirty="0"/>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{949EAD43-BB82-4362-9A36-9B44B4DEB2C0}TFb05bf529-a1dc-42d5-b9d6-8a1e9569dd9caf6e7d0f_win32-c3c9796a48f5</Template>
  <TotalTime>688</TotalTime>
  <Words>567</Words>
  <Application>Microsoft Office PowerPoint</Application>
  <PresentationFormat>Widescreen</PresentationFormat>
  <Paragraphs>36</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 Light</vt:lpstr>
      <vt:lpstr>Calibri</vt:lpstr>
      <vt:lpstr>Posterama</vt:lpstr>
      <vt:lpstr>Custom</vt:lpstr>
      <vt:lpstr>Analiza și clasificarea picturilor artistice</vt:lpstr>
      <vt:lpstr>Ideea Proiectului</vt:lpstr>
      <vt:lpstr>De ce?</vt:lpstr>
      <vt:lpstr>Setul de date</vt:lpstr>
      <vt:lpstr>Obținerea datelor</vt:lpstr>
      <vt:lpstr>Obținerea datelor</vt:lpstr>
      <vt:lpstr>Preprocesarea  datelor</vt:lpstr>
      <vt:lpstr>Preprocesarea datelor</vt:lpstr>
      <vt:lpstr>Analiza datelor</vt:lpstr>
      <vt:lpstr>Mulțumesc pentru atenție!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Eusebiu GLODEA (123695)</dc:creator>
  <cp:lastModifiedBy>Eusebiu GLODEA (123695)</cp:lastModifiedBy>
  <cp:revision>8</cp:revision>
  <dcterms:created xsi:type="dcterms:W3CDTF">2025-11-18T13:03:14Z</dcterms:created>
  <dcterms:modified xsi:type="dcterms:W3CDTF">2025-11-19T09:47:25Z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